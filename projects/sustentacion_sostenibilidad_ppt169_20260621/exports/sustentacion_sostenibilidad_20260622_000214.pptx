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2675939" y="1264920"/>
            <a:ext cx="684012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TIC, IMPACTO AMBIENTAL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90366" y="193167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Y SOSTENIBILIDAD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2861310"/>
            <a:ext cx="19050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Box 10"/>
          <p:cNvSpPr txBox="1"/>
          <p:nvPr/>
        </p:nvSpPr>
        <p:spPr>
          <a:xfrm>
            <a:off x="1546610" y="3189922"/>
            <a:ext cx="90987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Enfoque en la Ética y Práctica Profesional - Caso: EthiCode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62901" y="3921442"/>
            <a:ext cx="3866198" cy="1573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Docente: Pozo Malpartida, Jorge Luis</a:t>
            </a:r>
          </a:p>
          <a:p>
            <a:pPr algn="ctr">
              <a:lnSpc>
                <a:spcPts val="2250"/>
              </a:lnSpc>
              <a:spcBef>
                <a:spcPts val="750"/>
              </a:spcBef>
            </a:pPr>
            <a:r>
              <a:rPr lang="en-US" sz="1650" b="1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Integrantes: </a:t>
            </a:r>
          </a:p>
          <a:p>
            <a:pPr algn="ctr">
              <a:lnSpc>
                <a:spcPts val="2250"/>
              </a:lnSpc>
              <a:spcBef>
                <a:spcPts val="750"/>
              </a:spcBef>
            </a:pPr>
            <a:r>
              <a:rPr lang="en-US" sz="165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Oriundo Tafur, Josué Sebastián Valles Sevillano, Alan Samuel</a:t>
            </a:r>
          </a:p>
          <a:p>
            <a:pPr algn="ctr">
              <a:lnSpc>
                <a:spcPts val="2250"/>
              </a:lnSpc>
              <a:spcBef>
                <a:spcPts val="750"/>
              </a:spcBef>
            </a:pPr>
            <a:r>
              <a:rPr lang="en-US" sz="165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Vega Guillen, Luis Arhian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428750" y="1151573"/>
            <a:ext cx="9492062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El Impacto Oculto de la Tecnología</a:t>
            </a:r>
          </a:p>
        </p:txBody>
      </p:sp>
      <p:sp>
        <p:nvSpPr>
          <p:cNvPr id="8" name="Rectangle 8"/>
          <p:cNvSpPr/>
          <p:nvPr/>
        </p:nvSpPr>
        <p:spPr>
          <a:xfrm>
            <a:off x="1474470" y="1825943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428750" y="27622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cubicBezTo>
                  <a:pt x="213360" y="0"/>
                  <a:pt x="0" y="213360"/>
                  <a:pt x="0" y="476250"/>
                </a:cubicBezTo>
                <a:cubicBezTo>
                  <a:pt x="0" y="739140"/>
                  <a:pt x="213360" y="952500"/>
                  <a:pt x="476250" y="952500"/>
                </a:cubicBezTo>
                <a:cubicBezTo>
                  <a:pt x="739140" y="952500"/>
                  <a:pt x="952500" y="739140"/>
                  <a:pt x="952500" y="476250"/>
                </a:cubicBezTo>
                <a:cubicBezTo>
                  <a:pt x="952500" y="213360"/>
                  <a:pt x="739140" y="0"/>
                  <a:pt x="476250" y="0"/>
                </a:cubicBezTo>
                <a:close/>
                <a:moveTo>
                  <a:pt x="428625" y="853916"/>
                </a:moveTo>
                <a:cubicBezTo>
                  <a:pt x="240983" y="830104"/>
                  <a:pt x="95250" y="669131"/>
                  <a:pt x="95250" y="476250"/>
                </a:cubicBezTo>
                <a:cubicBezTo>
                  <a:pt x="95250" y="283369"/>
                  <a:pt x="240983" y="122396"/>
                  <a:pt x="428625" y="98584"/>
                </a:cubicBezTo>
                <a:lnTo>
                  <a:pt x="428625" y="853916"/>
                </a:lnTo>
                <a:close/>
                <a:moveTo>
                  <a:pt x="523875" y="98584"/>
                </a:moveTo>
                <a:cubicBezTo>
                  <a:pt x="711517" y="122396"/>
                  <a:pt x="857250" y="283369"/>
                  <a:pt x="857250" y="476250"/>
                </a:cubicBezTo>
                <a:cubicBezTo>
                  <a:pt x="857250" y="669131"/>
                  <a:pt x="711517" y="830104"/>
                  <a:pt x="523875" y="853916"/>
                </a:cubicBezTo>
                <a:lnTo>
                  <a:pt x="523875" y="98584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Box 10"/>
          <p:cNvSpPr txBox="1"/>
          <p:nvPr/>
        </p:nvSpPr>
        <p:spPr>
          <a:xfrm>
            <a:off x="3402330" y="1891665"/>
            <a:ext cx="61104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• La tecnología digital no es "inmaterial".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92830" y="2272665"/>
            <a:ext cx="5556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Aunque no la veamos, requiere una vasta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92830" y="2653665"/>
            <a:ext cx="54160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infraestructura física a nivel mundial.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02330" y="3415665"/>
            <a:ext cx="42433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• Consume recursos masivos.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92830" y="3796665"/>
            <a:ext cx="55700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Redes, servidores y dispositivos móviles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92830" y="4177665"/>
            <a:ext cx="55140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demandan electricidad constantemente.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2330" y="4939665"/>
            <a:ext cx="292019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• Ética Profesional.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92830" y="5320665"/>
            <a:ext cx="70682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Como creadores de software, tenemos la obligación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2830" y="5701665"/>
            <a:ext cx="671817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de mitigar este impacto con decisiones técnicas.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143000" y="1417320"/>
            <a:ext cx="619060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¿A qué nos enfrentamos?</a:t>
            </a:r>
          </a:p>
        </p:txBody>
      </p:sp>
      <p:sp>
        <p:nvSpPr>
          <p:cNvPr id="8" name="Rectangle 8"/>
          <p:cNvSpPr/>
          <p:nvPr/>
        </p:nvSpPr>
        <p:spPr>
          <a:xfrm>
            <a:off x="1188720" y="209169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angle 9"/>
          <p:cNvSpPr/>
          <p:nvPr/>
        </p:nvSpPr>
        <p:spPr>
          <a:xfrm>
            <a:off x="1143000" y="2476500"/>
            <a:ext cx="3048000" cy="2813255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angle 10"/>
          <p:cNvSpPr/>
          <p:nvPr/>
        </p:nvSpPr>
        <p:spPr>
          <a:xfrm>
            <a:off x="1143000" y="2476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>
            <a:off x="2286000" y="285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1228954" y="3392805"/>
            <a:ext cx="28760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Consumo Energético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669" y="4012882"/>
            <a:ext cx="2252662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Refrigeración y alimentación continua de centros de datos y redes globales.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0" y="2476500"/>
            <a:ext cx="3048000" cy="2813255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angle 15"/>
          <p:cNvSpPr/>
          <p:nvPr/>
        </p:nvSpPr>
        <p:spPr>
          <a:xfrm>
            <a:off x="4572000" y="2476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" name="Ellipse 16"/>
          <p:cNvSpPr/>
          <p:nvPr/>
        </p:nvSpPr>
        <p:spPr>
          <a:xfrm>
            <a:off x="5905500" y="2857500"/>
            <a:ext cx="381000" cy="381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Box 17"/>
          <p:cNvSpPr txBox="1"/>
          <p:nvPr/>
        </p:nvSpPr>
        <p:spPr>
          <a:xfrm>
            <a:off x="4518286" y="3392805"/>
            <a:ext cx="31554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Residuos Electrónicos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43011" y="4012882"/>
            <a:ext cx="2105977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Hardware desechado velozmente por obsolescencia programada.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2476500"/>
            <a:ext cx="3048000" cy="2813255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0" name="Rectangle 20"/>
          <p:cNvSpPr/>
          <p:nvPr/>
        </p:nvSpPr>
        <p:spPr>
          <a:xfrm>
            <a:off x="8001000" y="2476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1" name="Rectangle 21"/>
          <p:cNvSpPr/>
          <p:nvPr/>
        </p:nvSpPr>
        <p:spPr>
          <a:xfrm>
            <a:off x="9334500" y="2857500"/>
            <a:ext cx="381000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Box 22"/>
          <p:cNvSpPr txBox="1"/>
          <p:nvPr/>
        </p:nvSpPr>
        <p:spPr>
          <a:xfrm>
            <a:off x="8270727" y="3392805"/>
            <a:ext cx="25085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Huella de Carbono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4012882"/>
            <a:ext cx="2137410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Gases emitidos por el tráfico constante de datos de millones de usuarios.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097280" y="1455420"/>
            <a:ext cx="946701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Green Coding: Nuestra Responsabilidad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212979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Box 9"/>
          <p:cNvSpPr txBox="1"/>
          <p:nvPr/>
        </p:nvSpPr>
        <p:spPr>
          <a:xfrm>
            <a:off x="1116330" y="2264630"/>
            <a:ext cx="98447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Significa escribir código para que consuma la menor energía posible.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857500"/>
            <a:ext cx="3048000" cy="237326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angle 11"/>
          <p:cNvSpPr/>
          <p:nvPr/>
        </p:nvSpPr>
        <p:spPr>
          <a:xfrm>
            <a:off x="1143000" y="2857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1096637" y="3392805"/>
            <a:ext cx="31407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Algoritmos Eficientes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953" y="4012882"/>
            <a:ext cx="2284095" cy="90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Diseñar lógica que reduzca los ciclos de procesamiento (CPU).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0" y="2857500"/>
            <a:ext cx="3048000" cy="237326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angle 15"/>
          <p:cNvSpPr/>
          <p:nvPr/>
        </p:nvSpPr>
        <p:spPr>
          <a:xfrm>
            <a:off x="4572000" y="2857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Box 16"/>
          <p:cNvSpPr txBox="1"/>
          <p:nvPr/>
        </p:nvSpPr>
        <p:spPr>
          <a:xfrm>
            <a:off x="4834376" y="3392805"/>
            <a:ext cx="25232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Optimización 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33925" y="4012882"/>
            <a:ext cx="2724150" cy="90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Minimizar uso de memoria, evitando sobrecargar dispositivos móviles.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0" y="2857500"/>
            <a:ext cx="3048000" cy="237326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angle 19"/>
          <p:cNvSpPr/>
          <p:nvPr/>
        </p:nvSpPr>
        <p:spPr>
          <a:xfrm>
            <a:off x="8001000" y="2857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Box 20"/>
          <p:cNvSpPr txBox="1"/>
          <p:nvPr/>
        </p:nvSpPr>
        <p:spPr>
          <a:xfrm>
            <a:off x="8314832" y="3392805"/>
            <a:ext cx="24203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Archivos Ligeros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95285" y="4012882"/>
            <a:ext cx="3059430" cy="90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Reducción del peso de recursos web (imágenes, scripts) para ahorrar datos.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116330" y="1451118"/>
            <a:ext cx="755157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EthiCode: Nuestro Compromiso</a:t>
            </a:r>
          </a:p>
        </p:txBody>
      </p:sp>
      <p:sp>
        <p:nvSpPr>
          <p:cNvPr id="8" name="Rectangle 8"/>
          <p:cNvSpPr/>
          <p:nvPr/>
        </p:nvSpPr>
        <p:spPr>
          <a:xfrm>
            <a:off x="1162050" y="2125488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angle 9"/>
          <p:cNvSpPr/>
          <p:nvPr/>
        </p:nvSpPr>
        <p:spPr>
          <a:xfrm>
            <a:off x="1143000" y="2286000"/>
            <a:ext cx="9906000" cy="9525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Box 10"/>
          <p:cNvSpPr txBox="1"/>
          <p:nvPr/>
        </p:nvSpPr>
        <p:spPr>
          <a:xfrm>
            <a:off x="1898599" y="2598420"/>
            <a:ext cx="839480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solo hablamos de ética; programamos con ética.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6330" y="3412101"/>
            <a:ext cx="58017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1. Plataforma Desarrollada Éticamente: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7330" y="3840726"/>
            <a:ext cx="75442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Hemos tomado decisiones arquitectónicas enfocadas 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7330" y="4269351"/>
            <a:ext cx="68301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reducir directamente nuestro impacto ambiental.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6330" y="5031351"/>
            <a:ext cx="53018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2. Eficiencia centrada en el usuario: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7330" y="5459976"/>
            <a:ext cx="85664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Optimizaciones diseñadas para que la plataforma fluya rápido,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7330" y="5888601"/>
            <a:ext cx="92104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consumiendo la menor batería y datos posibles en sus dispositivos.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 dirty="0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097280" y="1396365"/>
            <a:ext cx="858490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Sostenibilidad Visual: Modo Oscuro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2070735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angle 9"/>
          <p:cNvSpPr/>
          <p:nvPr/>
        </p:nvSpPr>
        <p:spPr>
          <a:xfrm>
            <a:off x="1097280" y="2476500"/>
            <a:ext cx="9906000" cy="2985135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Ellipse 10"/>
          <p:cNvSpPr/>
          <p:nvPr/>
        </p:nvSpPr>
        <p:spPr>
          <a:xfrm>
            <a:off x="1478280" y="2857500"/>
            <a:ext cx="762000" cy="76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Ellipse 11"/>
          <p:cNvSpPr/>
          <p:nvPr/>
        </p:nvSpPr>
        <p:spPr>
          <a:xfrm>
            <a:off x="1714500" y="2857500"/>
            <a:ext cx="571500" cy="571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2423160" y="2714672"/>
            <a:ext cx="6950834" cy="39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Interfaz nativa en tonos oscuros (Dark-Tech)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30780" y="3181336"/>
            <a:ext cx="7938571" cy="300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• En pantallas OLED/AMOLED, los píxeles negros literalmente se apagan.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0780" y="3657586"/>
            <a:ext cx="8117517" cy="300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• Logramos un ahorro directo de batería en los dispositivos móviles de los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21280" y="4038586"/>
            <a:ext cx="2648499" cy="300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estudiantes y usuarios.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30780" y="4514836"/>
            <a:ext cx="8564880" cy="300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• Al extender la duración de la batería, prolongamos la vida útil del hardware,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21280" y="4895836"/>
            <a:ext cx="5847147" cy="300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combatiendo directamente los residuos electrónicos.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108205" y="1379220"/>
            <a:ext cx="1034912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Eficiencia en la Base de Datos (Firestore)</a:t>
            </a:r>
          </a:p>
        </p:txBody>
      </p:sp>
      <p:sp>
        <p:nvSpPr>
          <p:cNvPr id="8" name="Rectangle 8"/>
          <p:cNvSpPr/>
          <p:nvPr/>
        </p:nvSpPr>
        <p:spPr>
          <a:xfrm>
            <a:off x="1153925" y="205359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Box 9"/>
          <p:cNvSpPr txBox="1"/>
          <p:nvPr/>
        </p:nvSpPr>
        <p:spPr>
          <a:xfrm>
            <a:off x="1116330" y="2176524"/>
            <a:ext cx="108738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En el backend también fuimos sostenibles mediante una arquitectura ligera.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857500"/>
            <a:ext cx="9906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angle 11"/>
          <p:cNvSpPr/>
          <p:nvPr/>
        </p:nvSpPr>
        <p:spPr>
          <a:xfrm>
            <a:off x="1143000" y="2857500"/>
            <a:ext cx="114300" cy="952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1399318" y="2993708"/>
            <a:ext cx="9389554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Consultas Indexadas:</a:t>
            </a:r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Optimizadas para evitar escaneos completos, reduciendo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3128" y="3311843"/>
            <a:ext cx="72226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drásticamente la demanda de CPU en los servidores de Google.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4000500"/>
            <a:ext cx="9645872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angle 15"/>
          <p:cNvSpPr/>
          <p:nvPr/>
        </p:nvSpPr>
        <p:spPr>
          <a:xfrm>
            <a:off x="1143000" y="4000500"/>
            <a:ext cx="114300" cy="952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Box 16"/>
          <p:cNvSpPr txBox="1"/>
          <p:nvPr/>
        </p:nvSpPr>
        <p:spPr>
          <a:xfrm>
            <a:off x="1399318" y="4128135"/>
            <a:ext cx="103306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Estructura de Datos NoSQL:</a:t>
            </a:r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Mantiene los documentos en tamaños mínimos,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3128" y="4446270"/>
            <a:ext cx="72346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ahorrando ancho de banda y tiempos de carga para el usuario.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5143500"/>
            <a:ext cx="8748252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angle 19"/>
          <p:cNvSpPr/>
          <p:nvPr/>
        </p:nvSpPr>
        <p:spPr>
          <a:xfrm>
            <a:off x="1143000" y="5143500"/>
            <a:ext cx="114300" cy="952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Box 20"/>
          <p:cNvSpPr txBox="1"/>
          <p:nvPr/>
        </p:nvSpPr>
        <p:spPr>
          <a:xfrm>
            <a:off x="1447800" y="5420677"/>
            <a:ext cx="93645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Imágenes en Storage:</a:t>
            </a:r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Carga eficiente y almacenamiento comprimido.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1143000" y="1525245"/>
            <a:ext cx="1004668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Arquitectura Serverless y Sostenibilidad</a:t>
            </a:r>
          </a:p>
        </p:txBody>
      </p:sp>
      <p:sp>
        <p:nvSpPr>
          <p:cNvPr id="8" name="Rectangle 8"/>
          <p:cNvSpPr/>
          <p:nvPr/>
        </p:nvSpPr>
        <p:spPr>
          <a:xfrm>
            <a:off x="1188720" y="2199615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grpSp>
        <p:nvGrpSpPr>
          <p:cNvPr id="13" name="Group 13"/>
          <p:cNvGrpSpPr/>
          <p:nvPr/>
        </p:nvGrpSpPr>
        <p:grpSpPr>
          <a:xfrm>
            <a:off x="1152525" y="2514600"/>
            <a:ext cx="1276349" cy="1438275"/>
            <a:chOff x="1152525" y="2514600"/>
            <a:chExt cx="1276349" cy="1438275"/>
          </a:xfrm>
        </p:grpSpPr>
        <p:sp>
          <p:nvSpPr>
            <p:cNvPr id="9" name="Freeform 9"/>
            <p:cNvSpPr/>
            <p:nvPr/>
          </p:nvSpPr>
          <p:spPr>
            <a:xfrm>
              <a:off x="1152525" y="2514600"/>
              <a:ext cx="971550" cy="1438275"/>
            </a:xfrm>
            <a:custGeom>
              <a:avLst/>
              <a:gdLst/>
              <a:ahLst/>
              <a:cxnLst/>
              <a:rect l="l" t="t" r="r" b="b"/>
              <a:pathLst>
                <a:path w="971550" h="1438275">
                  <a:moveTo>
                    <a:pt x="666750" y="0"/>
                  </a:moveTo>
                  <a:lnTo>
                    <a:pt x="381000" y="557212"/>
                  </a:lnTo>
                  <a:lnTo>
                    <a:pt x="257175" y="371475"/>
                  </a:lnTo>
                  <a:lnTo>
                    <a:pt x="0" y="933450"/>
                  </a:lnTo>
                  <a:lnTo>
                    <a:pt x="885825" y="1438275"/>
                  </a:lnTo>
                  <a:lnTo>
                    <a:pt x="971550" y="1276350"/>
                  </a:lnTo>
                  <a:lnTo>
                    <a:pt x="666750" y="0"/>
                  </a:lnTo>
                  <a:close/>
                </a:path>
              </a:pathLst>
            </a:custGeom>
            <a:solidFill>
              <a:srgbClr val="FFA000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38312" y="2514600"/>
              <a:ext cx="385762" cy="1276350"/>
            </a:xfrm>
            <a:custGeom>
              <a:avLst/>
              <a:gdLst/>
              <a:ahLst/>
              <a:cxnLst/>
              <a:rect l="l" t="t" r="r" b="b"/>
              <a:pathLst>
                <a:path w="385762" h="1276350">
                  <a:moveTo>
                    <a:pt x="80962" y="0"/>
                  </a:moveTo>
                  <a:lnTo>
                    <a:pt x="0" y="152400"/>
                  </a:lnTo>
                  <a:lnTo>
                    <a:pt x="300038" y="1276350"/>
                  </a:lnTo>
                  <a:lnTo>
                    <a:pt x="385762" y="1114425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38312" y="2867025"/>
              <a:ext cx="690562" cy="762000"/>
            </a:xfrm>
            <a:custGeom>
              <a:avLst/>
              <a:gdLst/>
              <a:ahLst/>
              <a:cxnLst/>
              <a:rect l="l" t="t" r="r" b="b"/>
              <a:pathLst>
                <a:path w="690562" h="762000">
                  <a:moveTo>
                    <a:pt x="385762" y="762000"/>
                  </a:moveTo>
                  <a:lnTo>
                    <a:pt x="690562" y="142875"/>
                  </a:lnTo>
                  <a:lnTo>
                    <a:pt x="576262" y="28575"/>
                  </a:lnTo>
                  <a:cubicBezTo>
                    <a:pt x="547688" y="0"/>
                    <a:pt x="504825" y="0"/>
                    <a:pt x="476250" y="33338"/>
                  </a:cubicBezTo>
                  <a:lnTo>
                    <a:pt x="0" y="638175"/>
                  </a:lnTo>
                  <a:lnTo>
                    <a:pt x="385762" y="762000"/>
                  </a:lnTo>
                  <a:close/>
                </a:path>
              </a:pathLst>
            </a:custGeom>
            <a:solidFill>
              <a:srgbClr val="FFCA28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252538" y="2900362"/>
              <a:ext cx="495300" cy="457200"/>
            </a:xfrm>
            <a:custGeom>
              <a:avLst/>
              <a:gdLst/>
              <a:ahLst/>
              <a:cxnLst/>
              <a:rect l="l" t="t" r="r" b="b"/>
              <a:pathLst>
                <a:path w="495300" h="457200">
                  <a:moveTo>
                    <a:pt x="0" y="361950"/>
                  </a:moveTo>
                  <a:lnTo>
                    <a:pt x="157162" y="52388"/>
                  </a:lnTo>
                  <a:cubicBezTo>
                    <a:pt x="185738" y="0"/>
                    <a:pt x="261938" y="0"/>
                    <a:pt x="290512" y="52388"/>
                  </a:cubicBezTo>
                  <a:lnTo>
                    <a:pt x="495300" y="45720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FFCA28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4572000"/>
            <a:ext cx="914400" cy="914400"/>
            <a:chOff x="1143000" y="4572000"/>
            <a:chExt cx="914400" cy="914400"/>
          </a:xfrm>
        </p:grpSpPr>
        <p:sp>
          <p:nvSpPr>
            <p:cNvPr id="14" name="Rectangle 14"/>
            <p:cNvSpPr/>
            <p:nvPr/>
          </p:nvSpPr>
          <p:spPr>
            <a:xfrm>
              <a:off x="1143000" y="4572000"/>
              <a:ext cx="914400" cy="914400"/>
            </a:xfrm>
            <a:prstGeom prst="rect">
              <a:avLst/>
            </a:prstGeom>
            <a:solidFill>
              <a:srgbClr val="F7DF1E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275874" y="4866322"/>
              <a:ext cx="584359" cy="507206"/>
            </a:xfrm>
            <a:custGeom>
              <a:avLst/>
              <a:gdLst/>
              <a:ahLst/>
              <a:cxnLst/>
              <a:rect l="l" t="t" r="r" b="b"/>
              <a:pathLst>
                <a:path w="584359" h="507206">
                  <a:moveTo>
                    <a:pt x="491490" y="405765"/>
                  </a:moveTo>
                  <a:cubicBezTo>
                    <a:pt x="465773" y="425768"/>
                    <a:pt x="422910" y="441484"/>
                    <a:pt x="372904" y="441484"/>
                  </a:cubicBezTo>
                  <a:cubicBezTo>
                    <a:pt x="294323" y="441484"/>
                    <a:pt x="245745" y="404336"/>
                    <a:pt x="231457" y="341471"/>
                  </a:cubicBezTo>
                  <a:lnTo>
                    <a:pt x="151448" y="341471"/>
                  </a:lnTo>
                  <a:cubicBezTo>
                    <a:pt x="167164" y="440055"/>
                    <a:pt x="248602" y="507206"/>
                    <a:pt x="372904" y="507206"/>
                  </a:cubicBezTo>
                  <a:cubicBezTo>
                    <a:pt x="487204" y="507206"/>
                    <a:pt x="571500" y="450056"/>
                    <a:pt x="571500" y="354330"/>
                  </a:cubicBezTo>
                  <a:cubicBezTo>
                    <a:pt x="571500" y="258604"/>
                    <a:pt x="492919" y="224314"/>
                    <a:pt x="408623" y="195739"/>
                  </a:cubicBezTo>
                  <a:cubicBezTo>
                    <a:pt x="341471" y="174308"/>
                    <a:pt x="312896" y="157162"/>
                    <a:pt x="312896" y="120015"/>
                  </a:cubicBezTo>
                  <a:cubicBezTo>
                    <a:pt x="312896" y="87154"/>
                    <a:pt x="342900" y="62865"/>
                    <a:pt x="401479" y="62865"/>
                  </a:cubicBezTo>
                  <a:cubicBezTo>
                    <a:pt x="454342" y="62865"/>
                    <a:pt x="491490" y="84296"/>
                    <a:pt x="507206" y="127159"/>
                  </a:cubicBezTo>
                  <a:lnTo>
                    <a:pt x="584359" y="127159"/>
                  </a:lnTo>
                  <a:cubicBezTo>
                    <a:pt x="567214" y="45720"/>
                    <a:pt x="500062" y="1429"/>
                    <a:pt x="402907" y="1429"/>
                  </a:cubicBezTo>
                  <a:cubicBezTo>
                    <a:pt x="298609" y="1429"/>
                    <a:pt x="232886" y="58579"/>
                    <a:pt x="232886" y="134303"/>
                  </a:cubicBezTo>
                  <a:cubicBezTo>
                    <a:pt x="232886" y="217170"/>
                    <a:pt x="300037" y="252889"/>
                    <a:pt x="388620" y="280035"/>
                  </a:cubicBezTo>
                  <a:cubicBezTo>
                    <a:pt x="467201" y="304324"/>
                    <a:pt x="491490" y="324326"/>
                    <a:pt x="491490" y="367189"/>
                  </a:cubicBezTo>
                  <a:cubicBezTo>
                    <a:pt x="491490" y="407194"/>
                    <a:pt x="454342" y="434340"/>
                    <a:pt x="381476" y="434340"/>
                  </a:cubicBezTo>
                  <a:close/>
                  <a:moveTo>
                    <a:pt x="192881" y="388620"/>
                  </a:moveTo>
                  <a:cubicBezTo>
                    <a:pt x="170021" y="421481"/>
                    <a:pt x="134302" y="442912"/>
                    <a:pt x="87154" y="442912"/>
                  </a:cubicBezTo>
                  <a:cubicBezTo>
                    <a:pt x="31432" y="442912"/>
                    <a:pt x="0" y="411480"/>
                    <a:pt x="0" y="328612"/>
                  </a:cubicBezTo>
                  <a:lnTo>
                    <a:pt x="0" y="0"/>
                  </a:lnTo>
                  <a:lnTo>
                    <a:pt x="81439" y="0"/>
                  </a:lnTo>
                  <a:lnTo>
                    <a:pt x="81439" y="314325"/>
                  </a:lnTo>
                  <a:cubicBezTo>
                    <a:pt x="81439" y="357188"/>
                    <a:pt x="98584" y="377190"/>
                    <a:pt x="130016" y="377190"/>
                  </a:cubicBezTo>
                  <a:cubicBezTo>
                    <a:pt x="164306" y="377190"/>
                    <a:pt x="187166" y="358616"/>
                    <a:pt x="202882" y="334328"/>
                  </a:cubicBezTo>
                  <a:lnTo>
                    <a:pt x="204311" y="3914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17520" y="2598420"/>
            <a:ext cx="7591486" cy="3297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marL="342900" indent="-342900" algn="l">
              <a:lnSpc>
                <a:spcPts val="3375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Scale-to-Zero (Escalar a Cero) </a:t>
            </a:r>
            <a:r>
              <a:rPr lang="en-US" sz="195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Sin servidores físicos inactivos consumiendo energía eléctrica inútilmente.</a:t>
            </a:r>
          </a:p>
          <a:p>
            <a:pPr marL="342900" indent="-342900" algn="l">
              <a:lnSpc>
                <a:spcPts val="3375"/>
              </a:lnSpc>
              <a:spcBef>
                <a:spcPts val="2625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Recursos Bajo Demanda </a:t>
            </a:r>
            <a:r>
              <a:rPr lang="en-US" sz="195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Solo se ejecuta código y se gasta energía cuando un usuario interactúa.</a:t>
            </a:r>
          </a:p>
          <a:p>
            <a:pPr marL="342900" indent="-342900" algn="l">
              <a:lnSpc>
                <a:spcPts val="3375"/>
              </a:lnSpc>
              <a:spcBef>
                <a:spcPts val="2625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Despliegue Ligero con JavaScript </a:t>
            </a:r>
            <a:r>
              <a:rPr lang="en-US" sz="195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Lenguaje eficiente para funciones serverless, reduciendo carga y tiempos.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Box 7"/>
          <p:cNvSpPr txBox="1"/>
          <p:nvPr/>
        </p:nvSpPr>
        <p:spPr>
          <a:xfrm>
            <a:off x="366189" y="2152650"/>
            <a:ext cx="1145962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La sostenibilidad es una obligación ética, no una opción.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048000"/>
            <a:ext cx="1905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Box 9"/>
          <p:cNvSpPr txBox="1"/>
          <p:nvPr/>
        </p:nvSpPr>
        <p:spPr>
          <a:xfrm>
            <a:off x="1692565" y="3628072"/>
            <a:ext cx="8806870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450" b="1" i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"El mejor código es aquel que respeta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22456" y="4199572"/>
            <a:ext cx="694708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450" b="1" i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a su usuario y a su entorno."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68355" y="5297805"/>
            <a:ext cx="36552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¡Gracias por su atención!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492</Words>
  <Application>Microsoft Office PowerPoint</Application>
  <PresentationFormat>Panorámica</PresentationFormat>
  <Paragraphs>62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Josue Sebastian Oriundo Tafur-Ing. en Informatica y Sistemas</cp:lastModifiedBy>
  <cp:revision>2</cp:revision>
  <dcterms:created xsi:type="dcterms:W3CDTF">2026-06-22T05:02:15Z</dcterms:created>
  <dcterms:modified xsi:type="dcterms:W3CDTF">2026-06-22T05:09:39Z</dcterms:modified>
  <cp:category/>
  <cp:contentStatus/>
  <dc:language/>
</cp:coreProperties>
</file>