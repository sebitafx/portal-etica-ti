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75939" y="2404110"/>
            <a:ext cx="684012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TIC, IMPACTO AMBIENTAL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90366" y="307086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Y SOSTENIBILIDAD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000500"/>
            <a:ext cx="1905000" cy="38100"/>
          </a:xfrm>
          <a:prstGeom prst="rect">
            <a:avLst/>
          </a:prstGeom>
          <a:solidFill>
            <a:srgbClr val="04785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46610" y="4329112"/>
            <a:ext cx="90987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Enfoque en la Ética y Práctica Profesional - Caso: EthiCode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8861" y="5155882"/>
            <a:ext cx="7554278" cy="668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625"/>
              </a:lnSpc>
            </a:pPr>
            <a:r>
              <a:rPr lang="en-US" sz="165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 xml:space="preserve">Curso: Gestión de Servicios de TI | Docente: Chucos Baquerizo, Nilton </a:t>
            </a:r>
            <a:r>
              <a:rPr lang="en-US" sz="165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Integrantes: Hidalgo Robles, Dairon Said | Oriundo Tafur, Josué Sebastián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97280" y="1135380"/>
            <a:ext cx="845888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El Impacto Oculto de la Tecnología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80975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1219200" y="2933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170688" y="0"/>
                  <a:pt x="0" y="170688"/>
                  <a:pt x="0" y="381000"/>
                </a:cubicBezTo>
                <a:cubicBezTo>
                  <a:pt x="0" y="591312"/>
                  <a:pt x="170688" y="762000"/>
                  <a:pt x="381000" y="762000"/>
                </a:cubicBezTo>
                <a:cubicBezTo>
                  <a:pt x="591312" y="762000"/>
                  <a:pt x="762000" y="591312"/>
                  <a:pt x="762000" y="381000"/>
                </a:cubicBezTo>
                <a:cubicBezTo>
                  <a:pt x="762000" y="170688"/>
                  <a:pt x="591312" y="0"/>
                  <a:pt x="381000" y="0"/>
                </a:cubicBezTo>
                <a:close/>
                <a:moveTo>
                  <a:pt x="342900" y="683133"/>
                </a:moveTo>
                <a:cubicBezTo>
                  <a:pt x="192786" y="664083"/>
                  <a:pt x="76200" y="535305"/>
                  <a:pt x="76200" y="381000"/>
                </a:cubicBezTo>
                <a:cubicBezTo>
                  <a:pt x="76200" y="226695"/>
                  <a:pt x="192786" y="97917"/>
                  <a:pt x="342900" y="78867"/>
                </a:cubicBezTo>
                <a:lnTo>
                  <a:pt x="342900" y="683133"/>
                </a:lnTo>
                <a:close/>
                <a:moveTo>
                  <a:pt x="419100" y="78867"/>
                </a:moveTo>
                <a:cubicBezTo>
                  <a:pt x="569214" y="97917"/>
                  <a:pt x="685800" y="226695"/>
                  <a:pt x="685800" y="381000"/>
                </a:cubicBezTo>
                <a:cubicBezTo>
                  <a:pt x="685800" y="535305"/>
                  <a:pt x="569214" y="664083"/>
                  <a:pt x="419100" y="683133"/>
                </a:cubicBezTo>
                <a:lnTo>
                  <a:pt x="419100" y="78867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79520" y="3074670"/>
            <a:ext cx="698342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• La tecnología digital no es "inmaterial".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70020" y="3503295"/>
            <a:ext cx="63497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Aunque no la veamos, requiere una vasta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70020" y="3931920"/>
            <a:ext cx="61897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infraestructura física a nivel mundial.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79520" y="4693920"/>
            <a:ext cx="484955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• Consume recursos masivos.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70020" y="5122545"/>
            <a:ext cx="79339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Redes, servidores y dispositivos móviles demandan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0020" y="5551170"/>
            <a:ext cx="37894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electricidad constante.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79520" y="6313170"/>
            <a:ext cx="333737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• Ética Profesional.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0020" y="6741795"/>
            <a:ext cx="807796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Como creadores de software, tenemos la obligación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70020" y="7170420"/>
            <a:ext cx="76779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de mitigar este impacto con decisiones técnicas.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97280" y="944880"/>
            <a:ext cx="619060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¿A qué nos enfrentamos?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61925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43000" y="2476500"/>
            <a:ext cx="3048000" cy="32385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143000" y="2476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2286000" y="285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28954" y="3392805"/>
            <a:ext cx="28760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Consumo Energético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669" y="4012882"/>
            <a:ext cx="2252662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Refrigeración y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alimentación continua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de centros de datos y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redes globales.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0" y="2476500"/>
            <a:ext cx="3048000" cy="32385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572000" y="2476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5905500" y="2857500"/>
            <a:ext cx="381000" cy="381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18286" y="3392805"/>
            <a:ext cx="31554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Residuos Electrónicos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43011" y="4012882"/>
            <a:ext cx="2105977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Hardware desechado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velozmente por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obsolescencia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programada.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2476500"/>
            <a:ext cx="3048000" cy="32385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001000" y="2476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9334500" y="2857500"/>
            <a:ext cx="381000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70727" y="3392805"/>
            <a:ext cx="25085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Huella de Carbono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4012882"/>
            <a:ext cx="2137410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Gases emitidos por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el tráfico constante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de datos de millones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de usuarios.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97280" y="944880"/>
            <a:ext cx="946701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Green Coding: Nuestra Responsabilidad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61925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16330" y="2059305"/>
            <a:ext cx="98447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Significa escribir código para que consuma la menor energía posible.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857500"/>
            <a:ext cx="3048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143000" y="2857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96637" y="3392805"/>
            <a:ext cx="31407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Algoritmos Eficientes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953" y="4012882"/>
            <a:ext cx="2284095" cy="90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Diseñar lógica que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reduzca los ciclos de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procesamiento (CPU).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572000" y="2857500"/>
            <a:ext cx="3048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572000" y="2857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34376" y="3392805"/>
            <a:ext cx="25232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Optimización 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33925" y="4012882"/>
            <a:ext cx="2724150" cy="90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Minimizar uso de memoria,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evitando sobrecargar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dispositivos móviles.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0" y="2857500"/>
            <a:ext cx="3048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001000" y="2857500"/>
            <a:ext cx="30480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14832" y="3392805"/>
            <a:ext cx="24203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Archivos Ligeros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95285" y="4012882"/>
            <a:ext cx="3059430" cy="90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250"/>
              </a:lnSpc>
            </a:pP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Reducción del peso de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 xml:space="preserve">recursos web (imágenes, </a:t>
            </a:r>
            <a:r>
              <a:rPr lang="en-US" sz="1650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scripts) para ahorrar datos.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97280" y="944880"/>
            <a:ext cx="755157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EthiCode: Nuestro Compromiso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61925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43000" y="2286000"/>
            <a:ext cx="9906000" cy="9525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98599" y="2598420"/>
            <a:ext cx="839480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solo hablamos de ética; programamos con ética.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6330" y="3773805"/>
            <a:ext cx="58017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1. Plataforma Desarrollada Éticamente: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7330" y="4202430"/>
            <a:ext cx="75442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Hemos tomado decisiones arquitectónicas enfocadas 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7330" y="4631055"/>
            <a:ext cx="40718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reducir el impacto ambiental.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6330" y="5393055"/>
            <a:ext cx="53018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2. Eficiencia centrada en el usuario: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7330" y="5821680"/>
            <a:ext cx="85664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Optimizaciones diseñadas para que la plataforma fluya rápido,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7330" y="6250305"/>
            <a:ext cx="65501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consumiendo la menor batería y datos posibles.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97280" y="944880"/>
            <a:ext cx="858490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Sostenibilidad Visual: Modo Oscuro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61925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43000" y="2476500"/>
            <a:ext cx="9906000" cy="323850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857500"/>
            <a:ext cx="762000" cy="76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714500" y="2857500"/>
            <a:ext cx="571500" cy="571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825115" y="29632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Interfaz nativa en tonos oscuros (Dark-Tech)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2735" y="3789998"/>
            <a:ext cx="9228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• En pantallas OLED/AMOLED, los píxeles negros literalmente se apagan.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2735" y="4266248"/>
            <a:ext cx="94367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• Logramos un ahorro directo de batería en los dispositivos móviles de los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23235" y="4647248"/>
            <a:ext cx="307890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estudiantes y usuarios.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2735" y="5123498"/>
            <a:ext cx="99567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• Al extender la duración de la batería, prolongamos la vida útil del hardware,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23235" y="5504498"/>
            <a:ext cx="679737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combatiendo directamente los residuos electrónicos.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97280" y="944880"/>
            <a:ext cx="810604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E3A8A"/>
                </a:solidFill>
                <a:latin typeface="Arial Black"/>
                <a:ea typeface="Arial Black"/>
                <a:cs typeface="Arial Black"/>
              </a:rPr>
              <a:t>Eficiencia en la Nube (Firestore)</a:t>
            </a:r>
          </a:p>
        </p:txBody>
      </p:sp>
      <p:sp>
        <p:nvSpPr>
          <p:cNvPr id="8" name="Rectangle 8"/>
          <p:cNvSpPr/>
          <p:nvPr/>
        </p:nvSpPr>
        <p:spPr>
          <a:xfrm>
            <a:off x="1143000" y="161925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16330" y="2059305"/>
            <a:ext cx="108738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En el backend también fuimos sostenibles mediante una arquitectura ligera.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857500"/>
            <a:ext cx="9906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143000" y="2857500"/>
            <a:ext cx="114300" cy="9525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97330" y="3202305"/>
            <a:ext cx="1079268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Consultas Indexadas:</a:t>
            </a:r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 xml:space="preserve"> Optimizadas para evitar escaneos completos, reduciendo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1140" y="3520440"/>
            <a:ext cx="72226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drásticamente la demanda de CPU en los servidores de Google.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4000500"/>
            <a:ext cx="9906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1143000" y="4000500"/>
            <a:ext cx="114300" cy="9525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97330" y="4345305"/>
            <a:ext cx="103306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Estructura de Datos NoSQL:</a:t>
            </a:r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 xml:space="preserve"> Mantiene los documentos en tamaños mínimos,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1140" y="4663440"/>
            <a:ext cx="54223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ahorrando ancho de banda y tiempos de carga.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5143500"/>
            <a:ext cx="9906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1143000" y="5143500"/>
            <a:ext cx="114300" cy="9525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497330" y="5488305"/>
            <a:ext cx="93645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Imágenes en Storage:</a:t>
            </a:r>
            <a:r>
              <a:rPr lang="en-US" sz="2100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 xml:space="preserve"> Carga eficiente y almacenamiento comprimido.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0" y="0"/>
                </a:moveTo>
                <a:lnTo>
                  <a:pt x="2381250" y="0"/>
                </a:lnTo>
                <a:lnTo>
                  <a:pt x="0" y="238125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0" y="2381250"/>
                </a:moveTo>
                <a:lnTo>
                  <a:pt x="2381250" y="0"/>
                </a:lnTo>
                <a:lnTo>
                  <a:pt x="2571750" y="0"/>
                </a:lnTo>
                <a:lnTo>
                  <a:pt x="0" y="257175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9810750" y="4476750"/>
            <a:ext cx="2381250" cy="2381250"/>
          </a:xfrm>
          <a:custGeom>
            <a:avLst/>
            <a:gdLst/>
            <a:ahLst/>
            <a:cxnLst/>
            <a:rect l="l" t="t" r="r" b="b"/>
            <a:pathLst>
              <a:path w="2381250" h="2381250">
                <a:moveTo>
                  <a:pt x="2381250" y="2381250"/>
                </a:moveTo>
                <a:lnTo>
                  <a:pt x="0" y="2381250"/>
                </a:lnTo>
                <a:lnTo>
                  <a:pt x="2381250" y="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620250" y="4286250"/>
            <a:ext cx="2571750" cy="2571750"/>
          </a:xfrm>
          <a:custGeom>
            <a:avLst/>
            <a:gdLst/>
            <a:ahLst/>
            <a:cxnLst/>
            <a:rect l="l" t="t" r="r" b="b"/>
            <a:pathLst>
              <a:path w="2571750" h="2571750">
                <a:moveTo>
                  <a:pt x="2571750" y="190500"/>
                </a:moveTo>
                <a:lnTo>
                  <a:pt x="190500" y="2571750"/>
                </a:lnTo>
                <a:lnTo>
                  <a:pt x="0" y="2571750"/>
                </a:lnTo>
                <a:lnTo>
                  <a:pt x="25717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6189" y="2152650"/>
            <a:ext cx="1145962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La sostenibilidad es una obligación ética, no una opción.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048000"/>
            <a:ext cx="1905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2565" y="3628072"/>
            <a:ext cx="8806870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450" b="1" i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"El mejor código es aquel que respeta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22456" y="4199572"/>
            <a:ext cx="694708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450" b="1" i="1" dirty="0">
                <a:solidFill>
                  <a:srgbClr val="1E3A8A"/>
                </a:solidFill>
                <a:latin typeface="Segoe UI"/>
                <a:ea typeface="Segoe UI"/>
                <a:cs typeface="Segoe UI"/>
              </a:rPr>
              <a:t>a su usuario y a su entorno."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68355" y="5297805"/>
            <a:ext cx="36552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¡Gracias por su atención!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2026-06-22T04:53:55Z</dcterms:created>
  <dcterms:modified xsi:type="dcterms:W3CDTF">2026-06-22T04:53:55Z</dcterms:modified>
  <cp:category/>
  <cp:contentStatus/>
</cp:coreProperties>
</file>