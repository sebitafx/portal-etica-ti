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Box 3"/>
          <p:cNvSpPr txBox="1"/>
          <p:nvPr/>
        </p:nvSpPr>
        <p:spPr>
          <a:xfrm>
            <a:off x="2187359" y="2529840"/>
            <a:ext cx="7817282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4800" b="1" dirty="0">
                <a:solidFill>
                  <a:srgbClr val="10B981"/>
                </a:solidFill>
                <a:latin typeface="Arial Black"/>
                <a:ea typeface="Arial Black"/>
                <a:cs typeface="Arial Black"/>
              </a:rPr>
              <a:t>TIC, IMPACTO AMBIENTAL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346704" y="3291840"/>
            <a:ext cx="5498592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4800" b="1" dirty="0">
                <a:solidFill>
                  <a:srgbClr val="10B981"/>
                </a:solidFill>
                <a:latin typeface="Arial Black"/>
                <a:ea typeface="Arial Black"/>
                <a:cs typeface="Arial Black"/>
              </a:rPr>
              <a:t>Y SOSTENIBILIDAD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430686" y="4296728"/>
            <a:ext cx="7330628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550" b="1" dirty="0">
                <a:solidFill>
                  <a:srgbClr val="27272A"/>
                </a:solidFill>
                <a:latin typeface="Segoe UI"/>
                <a:ea typeface="Segoe UI"/>
                <a:cs typeface="Segoe UI"/>
              </a:rPr>
              <a:t>Enfoque en la Ética y Práctica Profesional</a:t>
            </a:r>
          </a:p>
        </p:txBody>
      </p:sp>
      <p:sp>
        <p:nvSpPr>
          <p:cNvPr id="6" name="Rectangle 6"/>
          <p:cNvSpPr/>
          <p:nvPr/>
        </p:nvSpPr>
        <p:spPr>
          <a:xfrm>
            <a:off x="5619750" y="4953000"/>
            <a:ext cx="952500" cy="381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9832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rcRect l="22222" r="22222"/>
          <a:stretch>
            <a:fillRect/>
          </a:stretch>
        </p:blipFill>
        <p:spPr>
          <a:xfrm>
            <a:off x="0" y="0"/>
            <a:ext cx="3810000" cy="6858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4340542" y="794861"/>
            <a:ext cx="2836409" cy="655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225" b="1" dirty="0">
                <a:solidFill>
                  <a:srgbClr val="10B981"/>
                </a:solidFill>
                <a:latin typeface="Arial Black"/>
                <a:ea typeface="Arial Black"/>
                <a:cs typeface="Arial Black"/>
              </a:rPr>
              <a:t>Introducción</a:t>
            </a:r>
          </a:p>
        </p:txBody>
      </p:sp>
      <p:sp>
        <p:nvSpPr>
          <p:cNvPr id="5" name="Rectangle 5"/>
          <p:cNvSpPr/>
          <p:nvPr/>
        </p:nvSpPr>
        <p:spPr>
          <a:xfrm>
            <a:off x="4381500" y="1333500"/>
            <a:ext cx="571500" cy="381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/>
          <a:lstStyle/>
          <a:p>
            <a:endParaRPr lang="es-PE" dirty="0"/>
          </a:p>
        </p:txBody>
      </p:sp>
      <p:sp>
        <p:nvSpPr>
          <p:cNvPr id="6" name="TextBox 6"/>
          <p:cNvSpPr txBox="1"/>
          <p:nvPr/>
        </p:nvSpPr>
        <p:spPr>
          <a:xfrm>
            <a:off x="4349116" y="1820228"/>
            <a:ext cx="6889156" cy="9467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3375"/>
              </a:lnSpc>
            </a:pPr>
            <a:r>
              <a:rPr lang="en-US" sz="2550" b="1" dirty="0">
                <a:solidFill>
                  <a:srgbClr val="27272A"/>
                </a:solidFill>
                <a:latin typeface="Segoe UI"/>
                <a:ea typeface="Segoe UI"/>
                <a:cs typeface="Segoe UI"/>
              </a:rPr>
              <a:t>Las TIC tienen un impacto significativo en el ambiente y requieren gestión ética y sostenible.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358640" y="3252972"/>
            <a:ext cx="663454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52525B"/>
                </a:solidFill>
                <a:latin typeface="Segoe UI"/>
                <a:ea typeface="Segoe UI"/>
                <a:cs typeface="Segoe UI"/>
              </a:rPr>
              <a:t>• Las Tecnologías de la Información y Comunicación (TIC)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49140" y="3586347"/>
            <a:ext cx="405422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52525B"/>
                </a:solidFill>
                <a:latin typeface="Segoe UI"/>
                <a:ea typeface="Segoe UI"/>
                <a:cs typeface="Segoe UI"/>
              </a:rPr>
              <a:t>han transformado nuestro mundo.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358640" y="4062597"/>
            <a:ext cx="668255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52525B"/>
                </a:solidFill>
                <a:latin typeface="Segoe UI"/>
                <a:ea typeface="Segoe UI"/>
                <a:cs typeface="Segoe UI"/>
              </a:rPr>
              <a:t>• Generan un impacto ambiental que debe ser gestionado.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58640" y="4538847"/>
            <a:ext cx="794270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52525B"/>
                </a:solidFill>
                <a:latin typeface="Segoe UI"/>
                <a:ea typeface="Segoe UI"/>
                <a:cs typeface="Segoe UI"/>
              </a:rPr>
              <a:t>• La ética y práctica profesional exigen responsabilidad sostenible.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497889" y="6323171"/>
            <a:ext cx="140708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425" dirty="0">
                <a:solidFill>
                  <a:srgbClr val="A1A1AA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9832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Box 3"/>
          <p:cNvSpPr txBox="1"/>
          <p:nvPr/>
        </p:nvSpPr>
        <p:spPr>
          <a:xfrm>
            <a:off x="530542" y="604361"/>
            <a:ext cx="4552324" cy="655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225" b="1" dirty="0">
                <a:solidFill>
                  <a:srgbClr val="10B981"/>
                </a:solidFill>
                <a:latin typeface="Arial Black"/>
                <a:ea typeface="Arial Black"/>
                <a:cs typeface="Arial Black"/>
              </a:rPr>
              <a:t>TIC y Medio Ambiente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1143000"/>
            <a:ext cx="571500" cy="381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Box 5"/>
          <p:cNvSpPr txBox="1"/>
          <p:nvPr/>
        </p:nvSpPr>
        <p:spPr>
          <a:xfrm>
            <a:off x="544830" y="1487805"/>
            <a:ext cx="765419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27272A"/>
                </a:solidFill>
                <a:latin typeface="Segoe UI"/>
                <a:ea typeface="Segoe UI"/>
                <a:cs typeface="Segoe UI"/>
              </a:rPr>
              <a:t>El desarrollo y uso de TIC genera consumo y residuos.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2286000"/>
            <a:ext cx="3429000" cy="2197510"/>
          </a:xfrm>
          <a:prstGeom prst="roundRect">
            <a:avLst>
              <a:gd name="adj" fmla="val 2286"/>
            </a:avLst>
          </a:prstGeom>
          <a:solidFill>
            <a:srgbClr val="F4F4F5"/>
          </a:solidFill>
          <a:ln w="19050">
            <a:solidFill>
              <a:srgbClr val="E4E4E7"/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7" name="Rectangle 7"/>
          <p:cNvSpPr/>
          <p:nvPr/>
        </p:nvSpPr>
        <p:spPr>
          <a:xfrm>
            <a:off x="571500" y="2286000"/>
            <a:ext cx="3429000" cy="76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Box 8"/>
          <p:cNvSpPr txBox="1"/>
          <p:nvPr/>
        </p:nvSpPr>
        <p:spPr>
          <a:xfrm>
            <a:off x="830580" y="2630805"/>
            <a:ext cx="287609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27272A"/>
                </a:solidFill>
                <a:latin typeface="Segoe UI"/>
                <a:ea typeface="Segoe UI"/>
                <a:cs typeface="Segoe UI"/>
              </a:rPr>
              <a:t>Consumo Energético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38200" y="3171825"/>
            <a:ext cx="2754785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250"/>
              </a:lnSpc>
            </a:pPr>
            <a:r>
              <a:rPr lang="en-US" sz="1500" dirty="0">
                <a:solidFill>
                  <a:srgbClr val="52525B"/>
                </a:solidFill>
                <a:latin typeface="Segoe UI"/>
                <a:ea typeface="Segoe UI"/>
                <a:cs typeface="Segoe UI"/>
              </a:rPr>
              <a:t>Cantidad de electricidad requerida para alimentar y refrigerar centros de datos y redes.</a:t>
            </a:r>
          </a:p>
        </p:txBody>
      </p:sp>
      <p:sp>
        <p:nvSpPr>
          <p:cNvPr id="10" name="Rectangle 10"/>
          <p:cNvSpPr/>
          <p:nvPr/>
        </p:nvSpPr>
        <p:spPr>
          <a:xfrm>
            <a:off x="4381500" y="2286000"/>
            <a:ext cx="3429000" cy="2197510"/>
          </a:xfrm>
          <a:prstGeom prst="roundRect">
            <a:avLst>
              <a:gd name="adj" fmla="val 2286"/>
            </a:avLst>
          </a:prstGeom>
          <a:solidFill>
            <a:srgbClr val="F4F4F5"/>
          </a:solidFill>
          <a:ln w="19050">
            <a:solidFill>
              <a:srgbClr val="E4E4E7"/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11" name="Rectangle 11"/>
          <p:cNvSpPr/>
          <p:nvPr/>
        </p:nvSpPr>
        <p:spPr>
          <a:xfrm>
            <a:off x="4381500" y="2286000"/>
            <a:ext cx="3429000" cy="76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Box 12"/>
          <p:cNvSpPr txBox="1"/>
          <p:nvPr/>
        </p:nvSpPr>
        <p:spPr>
          <a:xfrm>
            <a:off x="4640580" y="2630805"/>
            <a:ext cx="315542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27272A"/>
                </a:solidFill>
                <a:latin typeface="Segoe UI"/>
                <a:ea typeface="Segoe UI"/>
                <a:cs typeface="Segoe UI"/>
              </a:rPr>
              <a:t>Residuos Electrónicos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648201" y="3171825"/>
            <a:ext cx="2531632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250"/>
              </a:lnSpc>
            </a:pPr>
            <a:r>
              <a:rPr lang="en-US" sz="1500" dirty="0">
                <a:solidFill>
                  <a:srgbClr val="52525B"/>
                </a:solidFill>
                <a:latin typeface="Segoe UI"/>
                <a:ea typeface="Segoe UI"/>
                <a:cs typeface="Segoe UI"/>
              </a:rPr>
              <a:t>Dispositivos que han llegado al final de su vida útil y se desechan constantemente.</a:t>
            </a:r>
          </a:p>
        </p:txBody>
      </p:sp>
      <p:sp>
        <p:nvSpPr>
          <p:cNvPr id="14" name="Rectangle 14"/>
          <p:cNvSpPr/>
          <p:nvPr/>
        </p:nvSpPr>
        <p:spPr>
          <a:xfrm>
            <a:off x="8191500" y="2286000"/>
            <a:ext cx="3429000" cy="2197510"/>
          </a:xfrm>
          <a:prstGeom prst="roundRect">
            <a:avLst>
              <a:gd name="adj" fmla="val 2286"/>
            </a:avLst>
          </a:prstGeom>
          <a:solidFill>
            <a:srgbClr val="F4F4F5"/>
          </a:solidFill>
          <a:ln w="19050">
            <a:solidFill>
              <a:srgbClr val="E4E4E7"/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15" name="Rectangle 15"/>
          <p:cNvSpPr/>
          <p:nvPr/>
        </p:nvSpPr>
        <p:spPr>
          <a:xfrm>
            <a:off x="8191500" y="2286000"/>
            <a:ext cx="3429000" cy="76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Box 16"/>
          <p:cNvSpPr txBox="1"/>
          <p:nvPr/>
        </p:nvSpPr>
        <p:spPr>
          <a:xfrm>
            <a:off x="8450580" y="2630805"/>
            <a:ext cx="250854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27272A"/>
                </a:solidFill>
                <a:latin typeface="Segoe UI"/>
                <a:ea typeface="Segoe UI"/>
                <a:cs typeface="Segoe UI"/>
              </a:rPr>
              <a:t>Huella de Carbono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458200" y="3171825"/>
            <a:ext cx="2508547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250"/>
              </a:lnSpc>
            </a:pPr>
            <a:r>
              <a:rPr lang="en-US" sz="1500" dirty="0">
                <a:solidFill>
                  <a:srgbClr val="52525B"/>
                </a:solidFill>
                <a:latin typeface="Segoe UI"/>
                <a:ea typeface="Segoe UI"/>
                <a:cs typeface="Segoe UI"/>
              </a:rPr>
              <a:t>Impacto derivado del uso constante de internet, servicios cloud y dispositivos digitales.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497889" y="6323171"/>
            <a:ext cx="140708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425" dirty="0">
                <a:solidFill>
                  <a:srgbClr val="A1A1AA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Box 3"/>
          <p:cNvSpPr txBox="1"/>
          <p:nvPr/>
        </p:nvSpPr>
        <p:spPr>
          <a:xfrm>
            <a:off x="530542" y="604361"/>
            <a:ext cx="7577752" cy="655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225" b="1" dirty="0">
                <a:solidFill>
                  <a:srgbClr val="10B981"/>
                </a:solidFill>
                <a:latin typeface="Arial Black"/>
                <a:ea typeface="Arial Black"/>
                <a:cs typeface="Arial Black"/>
              </a:rPr>
              <a:t>Desarrollo de Software Sostenible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1143000"/>
            <a:ext cx="571500" cy="381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Box 5"/>
          <p:cNvSpPr txBox="1"/>
          <p:nvPr/>
        </p:nvSpPr>
        <p:spPr>
          <a:xfrm>
            <a:off x="544830" y="1487805"/>
            <a:ext cx="988886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27272A"/>
                </a:solidFill>
                <a:latin typeface="Segoe UI"/>
                <a:ea typeface="Segoe UI"/>
                <a:cs typeface="Segoe UI"/>
              </a:rPr>
              <a:t>El Green Coding busca reducir la huella ambiental desde la ingeniería.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2286000"/>
            <a:ext cx="2476500" cy="2118852"/>
          </a:xfrm>
          <a:prstGeom prst="roundRect">
            <a:avLst>
              <a:gd name="adj" fmla="val 3077"/>
            </a:avLst>
          </a:prstGeom>
          <a:solidFill>
            <a:srgbClr val="F4F4F5"/>
          </a:solidFill>
          <a:ln w="19050">
            <a:solidFill>
              <a:srgbClr val="E4E4E7"/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7" name="Rectangle 7"/>
          <p:cNvSpPr/>
          <p:nvPr/>
        </p:nvSpPr>
        <p:spPr>
          <a:xfrm>
            <a:off x="571500" y="2286000"/>
            <a:ext cx="2476500" cy="76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Box 8"/>
          <p:cNvSpPr txBox="1"/>
          <p:nvPr/>
        </p:nvSpPr>
        <p:spPr>
          <a:xfrm>
            <a:off x="739140" y="2663190"/>
            <a:ext cx="201156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27272A"/>
                </a:solidFill>
                <a:latin typeface="Segoe UI"/>
                <a:ea typeface="Segoe UI"/>
                <a:cs typeface="Segoe UI"/>
              </a:rPr>
              <a:t>Código Eficiente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3902" y="3179921"/>
            <a:ext cx="1836896" cy="7658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75"/>
              </a:lnSpc>
            </a:pPr>
            <a:r>
              <a:rPr lang="en-US" sz="1425" dirty="0">
                <a:solidFill>
                  <a:srgbClr val="52525B"/>
                </a:solidFill>
                <a:latin typeface="Segoe UI"/>
                <a:ea typeface="Segoe UI"/>
                <a:cs typeface="Segoe UI"/>
              </a:rPr>
              <a:t>Algoritmos con menor complejidad temporal y espacial.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429000" y="2286000"/>
            <a:ext cx="2476500" cy="2118852"/>
          </a:xfrm>
          <a:prstGeom prst="roundRect">
            <a:avLst>
              <a:gd name="adj" fmla="val 3077"/>
            </a:avLst>
          </a:prstGeom>
          <a:solidFill>
            <a:srgbClr val="F4F4F5"/>
          </a:solidFill>
          <a:ln w="19050">
            <a:solidFill>
              <a:srgbClr val="E4E4E7"/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11" name="Rectangle 11"/>
          <p:cNvSpPr/>
          <p:nvPr/>
        </p:nvSpPr>
        <p:spPr>
          <a:xfrm>
            <a:off x="3429000" y="2286000"/>
            <a:ext cx="2476500" cy="76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Box 12"/>
          <p:cNvSpPr txBox="1"/>
          <p:nvPr/>
        </p:nvSpPr>
        <p:spPr>
          <a:xfrm>
            <a:off x="3596640" y="2663190"/>
            <a:ext cx="162091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27272A"/>
                </a:solidFill>
                <a:latin typeface="Segoe UI"/>
                <a:ea typeface="Segoe UI"/>
                <a:cs typeface="Segoe UI"/>
              </a:rPr>
              <a:t>Optimización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01402" y="3179921"/>
            <a:ext cx="1728311" cy="10039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75"/>
              </a:lnSpc>
            </a:pPr>
            <a:r>
              <a:rPr lang="en-US" sz="1425" dirty="0">
                <a:solidFill>
                  <a:srgbClr val="52525B"/>
                </a:solidFill>
                <a:latin typeface="Segoe UI"/>
                <a:ea typeface="Segoe UI"/>
                <a:cs typeface="Segoe UI"/>
              </a:rPr>
              <a:t>Minimizar uso de memoria RAM y ciclos de CPU de forma innecesaria.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286500" y="2286000"/>
            <a:ext cx="2476500" cy="2118852"/>
          </a:xfrm>
          <a:prstGeom prst="roundRect">
            <a:avLst>
              <a:gd name="adj" fmla="val 3077"/>
            </a:avLst>
          </a:prstGeom>
          <a:solidFill>
            <a:srgbClr val="F4F4F5"/>
          </a:solidFill>
          <a:ln w="19050">
            <a:solidFill>
              <a:srgbClr val="E4E4E7"/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15" name="Rectangle 15"/>
          <p:cNvSpPr/>
          <p:nvPr/>
        </p:nvSpPr>
        <p:spPr>
          <a:xfrm>
            <a:off x="6286500" y="2286000"/>
            <a:ext cx="2476500" cy="76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Box 16"/>
          <p:cNvSpPr txBox="1"/>
          <p:nvPr/>
        </p:nvSpPr>
        <p:spPr>
          <a:xfrm>
            <a:off x="6454140" y="2663190"/>
            <a:ext cx="158311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27272A"/>
                </a:solidFill>
                <a:latin typeface="Segoe UI"/>
                <a:ea typeface="Segoe UI"/>
                <a:cs typeface="Segoe UI"/>
              </a:rPr>
              <a:t>Green Coding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458902" y="3179921"/>
            <a:ext cx="1809750" cy="10039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75"/>
              </a:lnSpc>
            </a:pPr>
            <a:r>
              <a:rPr lang="en-US" sz="1425" dirty="0">
                <a:solidFill>
                  <a:srgbClr val="52525B"/>
                </a:solidFill>
                <a:latin typeface="Segoe UI"/>
                <a:ea typeface="Segoe UI"/>
                <a:cs typeface="Segoe UI"/>
              </a:rPr>
              <a:t>Prácticas de programación 100% ecológica enfocada en la sostenibilidad.</a:t>
            </a:r>
          </a:p>
        </p:txBody>
      </p:sp>
      <p:sp>
        <p:nvSpPr>
          <p:cNvPr id="18" name="Rectangle 18"/>
          <p:cNvSpPr/>
          <p:nvPr/>
        </p:nvSpPr>
        <p:spPr>
          <a:xfrm>
            <a:off x="9144000" y="2286000"/>
            <a:ext cx="2476500" cy="2118852"/>
          </a:xfrm>
          <a:prstGeom prst="roundRect">
            <a:avLst>
              <a:gd name="adj" fmla="val 3077"/>
            </a:avLst>
          </a:prstGeom>
          <a:solidFill>
            <a:srgbClr val="F4F4F5"/>
          </a:solidFill>
          <a:ln w="19050">
            <a:solidFill>
              <a:srgbClr val="E4E4E7"/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19" name="Rectangle 19"/>
          <p:cNvSpPr/>
          <p:nvPr/>
        </p:nvSpPr>
        <p:spPr>
          <a:xfrm>
            <a:off x="9144000" y="2286000"/>
            <a:ext cx="2476500" cy="76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Box 20"/>
          <p:cNvSpPr txBox="1"/>
          <p:nvPr/>
        </p:nvSpPr>
        <p:spPr>
          <a:xfrm>
            <a:off x="9311640" y="2663190"/>
            <a:ext cx="153270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27272A"/>
                </a:solidFill>
                <a:latin typeface="Segoe UI"/>
                <a:ea typeface="Segoe UI"/>
                <a:cs typeface="Segoe UI"/>
              </a:rPr>
              <a:t>Ciclo de Vida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316402" y="3179921"/>
            <a:ext cx="1882140" cy="10039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75"/>
              </a:lnSpc>
            </a:pPr>
            <a:r>
              <a:rPr lang="en-US" sz="1425" dirty="0">
                <a:solidFill>
                  <a:srgbClr val="52525B"/>
                </a:solidFill>
                <a:latin typeface="Segoe UI"/>
                <a:ea typeface="Segoe UI"/>
                <a:cs typeface="Segoe UI"/>
              </a:rPr>
              <a:t>Gestión del software desde el diseño hasta su desuso de manera responsable.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497889" y="6323171"/>
            <a:ext cx="140708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425" dirty="0">
                <a:solidFill>
                  <a:srgbClr val="A1A1AA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PE" u="sng"/>
          </a:p>
        </p:txBody>
      </p:sp>
      <p:sp>
        <p:nvSpPr>
          <p:cNvPr id="3" name="TextBox 3"/>
          <p:cNvSpPr txBox="1"/>
          <p:nvPr/>
        </p:nvSpPr>
        <p:spPr>
          <a:xfrm>
            <a:off x="2781258" y="604361"/>
            <a:ext cx="6629483" cy="655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3225" b="1" dirty="0">
                <a:solidFill>
                  <a:srgbClr val="10B981"/>
                </a:solidFill>
                <a:latin typeface="Arial Black"/>
                <a:ea typeface="Arial Black"/>
                <a:cs typeface="Arial Black"/>
              </a:rPr>
              <a:t>Aplicación Práctica a EthiCode</a:t>
            </a:r>
          </a:p>
        </p:txBody>
      </p:sp>
      <p:sp>
        <p:nvSpPr>
          <p:cNvPr id="4" name="Rectangle 4"/>
          <p:cNvSpPr/>
          <p:nvPr/>
        </p:nvSpPr>
        <p:spPr>
          <a:xfrm>
            <a:off x="5619750" y="1143000"/>
            <a:ext cx="952500" cy="381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Box 5"/>
          <p:cNvSpPr txBox="1"/>
          <p:nvPr/>
        </p:nvSpPr>
        <p:spPr>
          <a:xfrm>
            <a:off x="886468" y="1629728"/>
            <a:ext cx="9174948" cy="3924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en-US" sz="2550" b="1" dirty="0">
                <a:solidFill>
                  <a:srgbClr val="27272A"/>
                </a:solidFill>
                <a:latin typeface="Segoe UI"/>
                <a:ea typeface="Segoe UI"/>
                <a:cs typeface="Segoe UI"/>
              </a:rPr>
              <a:t>Nuestro foro aplica sostenibilidad con decisiones de diseño.</a:t>
            </a:r>
          </a:p>
        </p:txBody>
      </p:sp>
      <p:sp>
        <p:nvSpPr>
          <p:cNvPr id="6" name="Rectangle 6"/>
          <p:cNvSpPr/>
          <p:nvPr/>
        </p:nvSpPr>
        <p:spPr>
          <a:xfrm>
            <a:off x="2374489" y="2667000"/>
            <a:ext cx="7959213" cy="762000"/>
          </a:xfrm>
          <a:prstGeom prst="roundRect">
            <a:avLst>
              <a:gd name="adj" fmla="val 10000"/>
            </a:avLst>
          </a:prstGeom>
          <a:solidFill>
            <a:srgbClr val="F4F4F5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Box 7"/>
          <p:cNvSpPr txBox="1"/>
          <p:nvPr/>
        </p:nvSpPr>
        <p:spPr>
          <a:xfrm>
            <a:off x="2476119" y="2934652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1.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857119" y="2934652"/>
            <a:ext cx="824274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27272A"/>
                </a:solidFill>
                <a:latin typeface="Segoe UI"/>
                <a:ea typeface="Segoe UI"/>
                <a:cs typeface="Segoe UI"/>
              </a:rPr>
              <a:t>Modo Oscuro nativo:</a:t>
            </a:r>
            <a:r>
              <a:rPr lang="en-US" sz="1800" dirty="0">
                <a:solidFill>
                  <a:srgbClr val="27272A"/>
                </a:solidFill>
                <a:latin typeface="Segoe UI"/>
                <a:ea typeface="Segoe UI"/>
                <a:cs typeface="Segoe UI"/>
              </a:rPr>
              <a:t> Reduce el consumo energético en pantallas OLED.</a:t>
            </a:r>
          </a:p>
        </p:txBody>
      </p:sp>
      <p:sp>
        <p:nvSpPr>
          <p:cNvPr id="9" name="Rectangle 9"/>
          <p:cNvSpPr/>
          <p:nvPr/>
        </p:nvSpPr>
        <p:spPr>
          <a:xfrm>
            <a:off x="2374489" y="3619500"/>
            <a:ext cx="7959213" cy="762000"/>
          </a:xfrm>
          <a:prstGeom prst="roundRect">
            <a:avLst>
              <a:gd name="adj" fmla="val 10000"/>
            </a:avLst>
          </a:prstGeom>
          <a:solidFill>
            <a:srgbClr val="F4F4F5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Box 10"/>
          <p:cNvSpPr txBox="1"/>
          <p:nvPr/>
        </p:nvSpPr>
        <p:spPr>
          <a:xfrm>
            <a:off x="2476119" y="3887152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2.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57119" y="3887152"/>
            <a:ext cx="841076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27272A"/>
                </a:solidFill>
                <a:latin typeface="Segoe UI"/>
                <a:ea typeface="Segoe UI"/>
                <a:cs typeface="Segoe UI"/>
              </a:rPr>
              <a:t>Bases de datos en tiempo real:</a:t>
            </a:r>
            <a:r>
              <a:rPr lang="en-US" sz="1800" dirty="0">
                <a:solidFill>
                  <a:srgbClr val="27272A"/>
                </a:solidFill>
                <a:latin typeface="Segoe UI"/>
                <a:ea typeface="Segoe UI"/>
                <a:cs typeface="Segoe UI"/>
              </a:rPr>
              <a:t> Optimización de consultas en Firestore.</a:t>
            </a:r>
          </a:p>
        </p:txBody>
      </p:sp>
      <p:sp>
        <p:nvSpPr>
          <p:cNvPr id="12" name="Rectangle 12"/>
          <p:cNvSpPr/>
          <p:nvPr/>
        </p:nvSpPr>
        <p:spPr>
          <a:xfrm>
            <a:off x="2374489" y="4572000"/>
            <a:ext cx="7959213" cy="762000"/>
          </a:xfrm>
          <a:prstGeom prst="roundRect">
            <a:avLst>
              <a:gd name="adj" fmla="val 10000"/>
            </a:avLst>
          </a:prstGeom>
          <a:solidFill>
            <a:srgbClr val="F4F4F5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Box 13"/>
          <p:cNvSpPr txBox="1"/>
          <p:nvPr/>
        </p:nvSpPr>
        <p:spPr>
          <a:xfrm>
            <a:off x="2476119" y="4839652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3.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857119" y="4839652"/>
            <a:ext cx="779868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27272A"/>
                </a:solidFill>
                <a:latin typeface="Segoe UI"/>
                <a:ea typeface="Segoe UI"/>
                <a:cs typeface="Segoe UI"/>
              </a:rPr>
              <a:t>Carga eficiente de imágenes:</a:t>
            </a:r>
            <a:r>
              <a:rPr lang="en-US" sz="1800" dirty="0">
                <a:solidFill>
                  <a:srgbClr val="27272A"/>
                </a:solidFill>
                <a:latin typeface="Segoe UI"/>
                <a:ea typeface="Segoe UI"/>
                <a:cs typeface="Segoe UI"/>
              </a:rPr>
              <a:t> Reduce el peso y el tráfico de la red.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497889" y="6323171"/>
            <a:ext cx="140708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425" dirty="0">
                <a:solidFill>
                  <a:srgbClr val="A1A1AA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B981">
              <a:alpha val="5000"/>
            </a:srgbClr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4" name="TextBox 4"/>
          <p:cNvSpPr txBox="1"/>
          <p:nvPr/>
        </p:nvSpPr>
        <p:spPr>
          <a:xfrm>
            <a:off x="952455" y="2890361"/>
            <a:ext cx="10287090" cy="655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3225" b="1" dirty="0">
                <a:solidFill>
                  <a:srgbClr val="047857"/>
                </a:solidFill>
                <a:latin typeface="Segoe UI"/>
                <a:ea typeface="Segoe UI"/>
                <a:cs typeface="Segoe UI"/>
              </a:rPr>
              <a:t>"La tecnología será verdaderamente avanzada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08812" y="3557111"/>
            <a:ext cx="8774376" cy="655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3225" b="1" dirty="0">
                <a:solidFill>
                  <a:srgbClr val="047857"/>
                </a:solidFill>
                <a:latin typeface="Segoe UI"/>
                <a:ea typeface="Segoe UI"/>
                <a:cs typeface="Segoe UI"/>
              </a:rPr>
              <a:t>cuando sea completamente sostenible."</a:t>
            </a:r>
          </a:p>
        </p:txBody>
      </p:sp>
      <p:sp>
        <p:nvSpPr>
          <p:cNvPr id="6" name="Rectangle 6"/>
          <p:cNvSpPr/>
          <p:nvPr/>
        </p:nvSpPr>
        <p:spPr>
          <a:xfrm>
            <a:off x="5810250" y="4381500"/>
            <a:ext cx="571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Box 7"/>
          <p:cNvSpPr txBox="1"/>
          <p:nvPr/>
        </p:nvSpPr>
        <p:spPr>
          <a:xfrm>
            <a:off x="4602956" y="4758690"/>
            <a:ext cx="298608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800" dirty="0">
                <a:solidFill>
                  <a:srgbClr val="27272A"/>
                </a:solidFill>
                <a:latin typeface="Segoe UI"/>
                <a:ea typeface="Segoe UI"/>
                <a:cs typeface="Segoe UI"/>
              </a:rPr>
              <a:t>¡Gracias por su atención!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497889" y="6323171"/>
            <a:ext cx="140708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425" dirty="0">
                <a:solidFill>
                  <a:srgbClr val="A1A1AA"/>
                </a:solidFill>
                <a:latin typeface="Segoe UI"/>
                <a:ea typeface="Segoe UI"/>
                <a:cs typeface="Segoe UI"/>
              </a:rPr>
              <a:t>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281</Words>
  <Application>Microsoft Office PowerPoint</Application>
  <PresentationFormat>Panorámica</PresentationFormat>
  <Paragraphs>43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Arial</vt:lpstr>
      <vt:lpstr>Arial Black</vt:lpstr>
      <vt:lpstr>Calibri</vt:lpstr>
      <vt:lpstr>Segoe UI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Josue Sebastian Oriundo Tafur-Ing. en Informatica y Sistemas</cp:lastModifiedBy>
  <cp:revision>2</cp:revision>
  <dcterms:created xsi:type="dcterms:W3CDTF">2026-06-22T04:39:26Z</dcterms:created>
  <dcterms:modified xsi:type="dcterms:W3CDTF">2026-06-22T04:45:46Z</dcterms:modified>
  <cp:category/>
  <cp:contentStatus/>
  <dc:language/>
</cp:coreProperties>
</file>